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32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6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74151"/>
                </a:solidFill>
                <a:latin typeface="Arial"/>
              </a:rPr>
              <a:t>Revenue Forecast ($B)  ·  2025A–2034E  |  10Y CAGR ~15%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635BFF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7.6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5C-1F4E-B785-3AAA7F913C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9.73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45C-1F4E-B785-3AAA7F913C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12.16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45C-1F4E-B785-3AAA7F913C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14.59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45C-1F4E-B785-3AAA7F913C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5969BAF-B008-824E-8832-387BB79929FA}" type="VALUE">
                      <a:rPr lang="en-US" smtClean="0"/>
                      <a:pPr/>
                      <a:t>[VALUE]</a:t>
                    </a:fld>
                    <a:r>
                      <a:rPr lang="en-US"/>
                      <a:t>.22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45C-1F4E-B785-3AAA7F913C6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19.97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45C-1F4E-B785-3AAA7F913C6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22.77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45C-1F4E-B785-3AAA7F913C6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5.50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45C-1F4E-B785-3AAA7F913C6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F38D3E2E-F94A-FB46-BADE-966289A3E7A3}" type="VALUE">
                      <a:rPr lang="en-US" smtClean="0"/>
                      <a:pPr/>
                      <a:t>[VALUE]</a:t>
                    </a:fld>
                    <a:r>
                      <a:rPr lang="en-US"/>
                      <a:t>.05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845C-1F4E-B785-3AAA7F913C6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9B602C35-0F10-434B-A23D-DEA17B05059A}" type="VALUE">
                      <a:rPr lang="en-US" smtClean="0"/>
                      <a:pPr/>
                      <a:t>[VALUE]</a:t>
                    </a:fld>
                    <a:r>
                      <a:rPr lang="en-US"/>
                      <a:t>.30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845C-1F4E-B785-3AAA7F913C6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  <c:pt idx="9">
                  <c:v>2034E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7.6</c:v>
                </c:pt>
                <c:pt idx="1">
                  <c:v>9.73</c:v>
                </c:pt>
                <c:pt idx="2">
                  <c:v>12.16</c:v>
                </c:pt>
                <c:pt idx="3">
                  <c:v>14.59</c:v>
                </c:pt>
                <c:pt idx="4">
                  <c:v>17.22</c:v>
                </c:pt>
                <c:pt idx="5">
                  <c:v>19.97</c:v>
                </c:pt>
                <c:pt idx="6">
                  <c:v>22.77</c:v>
                </c:pt>
                <c:pt idx="7">
                  <c:v>25.5</c:v>
                </c:pt>
                <c:pt idx="8">
                  <c:v>28.05</c:v>
                </c:pt>
                <c:pt idx="9">
                  <c:v>30.3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C-1F4E-B785-3AAA7F913C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74151"/>
                </a:solidFill>
                <a:latin typeface="Arial"/>
              </a:rPr>
              <a:t>Free Cash Flow Build ($B)  ·  FCF grows $1.57B → $7.44B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 ($B)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1.57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CA1-6741-8431-639CFC46DDD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2.01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CA1-6741-8431-639CFC46DDD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2.51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CA1-6741-8431-639CFC46DDD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4DA83707-0CDD-1642-BD07-53A76AA79DB1}" type="VALUE">
                      <a:rPr lang="en-US" smtClean="0"/>
                      <a:pPr/>
                      <a:t>[VALUE]</a:t>
                    </a:fld>
                    <a:r>
                      <a:rPr lang="en-US"/>
                      <a:t>.24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CA1-6741-8431-639CFC46DDD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3.82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CA1-6741-8431-639CFC46DDD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77B59520-4678-8E47-9561-3F038C57CE99}" type="VALUE">
                      <a:rPr lang="en-US" smtClean="0"/>
                      <a:pPr/>
                      <a:t>[VALUE]</a:t>
                    </a:fld>
                    <a:r>
                      <a:rPr lang="en-US"/>
                      <a:t>.43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ECA1-6741-8431-639CFC46DDD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5.59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CA1-6741-8431-639CFC46DDD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7391BFD4-E7DA-B049-A44D-0B6637DD4A61}" type="VALUE">
                      <a:rPr lang="en-US" smtClean="0"/>
                      <a:pPr/>
                      <a:t>[VALUE]</a:t>
                    </a:fld>
                    <a:r>
                      <a:rPr lang="en-US"/>
                      <a:t>.27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ECA1-6741-8431-639CFC46DDD1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6.89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CA1-6741-8431-639CFC46DDD1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A6234CA3-7862-EB4E-802A-BF6B908541CE}" type="VALUE">
                      <a:rPr lang="en-US" smtClean="0"/>
                      <a:pPr/>
                      <a:t>[VALUE]</a:t>
                    </a:fld>
                    <a:r>
                      <a:rPr lang="en-US"/>
                      <a:t>.44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ECA1-6741-8431-639CFC46DDD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  <c:pt idx="9">
                  <c:v>2034E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1.57</c:v>
                </c:pt>
                <c:pt idx="1">
                  <c:v>2.0099999999999998</c:v>
                </c:pt>
                <c:pt idx="2">
                  <c:v>2.5099999999999998</c:v>
                </c:pt>
                <c:pt idx="3">
                  <c:v>3.24</c:v>
                </c:pt>
                <c:pt idx="4">
                  <c:v>3.82</c:v>
                </c:pt>
                <c:pt idx="5">
                  <c:v>4.43</c:v>
                </c:pt>
                <c:pt idx="6">
                  <c:v>5.59</c:v>
                </c:pt>
                <c:pt idx="7">
                  <c:v>6.27</c:v>
                </c:pt>
                <c:pt idx="8">
                  <c:v>6.89</c:v>
                </c:pt>
                <c:pt idx="9">
                  <c:v>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1-6741-8431-639CFC46DD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74151"/>
                </a:solidFill>
                <a:latin typeface="Arial"/>
              </a:rPr>
              <a:t>Blended Valuation Build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Value ($B)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26-424C-8B45-3C4997F485DB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26-424C-8B45-3C4997F485DB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26-424C-8B45-3C4997F485DB}"/>
              </c:ext>
            </c:extLst>
          </c:dPt>
          <c:dPt>
            <c:idx val="3"/>
            <c:invertIfNegative val="0"/>
            <c:bubble3D val="0"/>
            <c:spPr>
              <a:solidFill>
                <a:srgbClr val="635B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26-424C-8B45-3C4997F485D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175.1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A26-424C-8B45-3C4997F485D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A26-424C-8B45-3C4997F485D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210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A26-424C-8B45-3C4997F485D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Comps (60%)</c:v>
                </c:pt>
                <c:pt idx="1">
                  <c:v>DCF (10%)</c:v>
                </c:pt>
                <c:pt idx="2">
                  <c:v>IPO Range (30%)</c:v>
                </c:pt>
                <c:pt idx="3">
                  <c:v>Blended 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105.1</c:v>
                </c:pt>
                <c:pt idx="1">
                  <c:v>5.6</c:v>
                </c:pt>
                <c:pt idx="2">
                  <c:v>64.2</c:v>
                </c:pt>
                <c:pt idx="3">
                  <c:v>173.7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A26-424C-8B45-3C4997F485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4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0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22592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22592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22592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22592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22592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61504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61504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61504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61504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61504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00416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00416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00416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00416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00416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39328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39328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39328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39328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39328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50292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Valuation &amp; IPO Readiness Analysis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" y="2057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Memorandum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2487168"/>
            <a:ext cx="3840480" cy="0"/>
          </a:xfrm>
          <a:prstGeom prst="line">
            <a:avLst/>
          </a:prstGeom>
          <a:noFill/>
          <a:ln w="1905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" y="2697480"/>
            <a:ext cx="19659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94360" y="3090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51760" y="2697480"/>
            <a:ext cx="19659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$174.9B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743200" y="3090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Valuation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2697480"/>
            <a:ext cx="19659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743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9.98</a:t>
            </a: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892040" y="3090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Upside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49440" y="2697480"/>
            <a:ext cx="19659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63156" y="2751909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2026–H1 2027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40880" y="3090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Window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0292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Edric Lim  ·  Date: April 2026  ·  CONFIDENTIAL — FOR EDUCATIONAL PURPOSES ONLY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Stripe deserves an infrastructure premium — not a processor multiple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3611880"/>
          </a:xfrm>
          <a:prstGeom prst="rect">
            <a:avLst/>
          </a:prstGeom>
          <a:solidFill>
            <a:srgbClr val="0F1F3D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64592" cy="3611880"/>
          </a:xfrm>
          <a:prstGeom prst="rect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compete on price.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compounds on adoption.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costs deepen with every API call.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77640" cy="1078992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280160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50" y="1356970"/>
            <a:ext cx="230429" cy="23042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76672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switching costs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76672" y="1307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Stripe's APIs are embedded in Amazon, Ford &amp; OpenAI payment flows. Migration means rewriting core financial plumbing — not cancelling a SaaS sub.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2148840"/>
            <a:ext cx="3977640" cy="1078992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92040" y="2468880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50" y="2545690"/>
            <a:ext cx="230429" cy="2304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attach = take-rate floor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376672" y="24963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Billing &amp; Radar command higher margins than core processing. Software mix growth supports blended take rate even as fees compress.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754880" y="3337560"/>
            <a:ext cx="3977640" cy="1078992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892040" y="36576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850" y="3734410"/>
            <a:ext cx="230429" cy="23042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76672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commerce — a free option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376672" y="36850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transactions need a programmable payments layer. Stripe's API-first architecture is the default infrastructure for this emerging category.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846320" y="4486047"/>
            <a:ext cx="3886200" cy="32369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92040" y="4480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 ·  Target $174.9B  ·  +10.0% Upside  ·  Blended: Comps 60% / DCF 10% / IPO Range 30%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payments infrastructure is a multi-trillion dollar, underpenetrated TAM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3383280" cy="33832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2377440" cy="2377440"/>
          </a:xfrm>
          <a:prstGeom prst="ellipse">
            <a:avLst/>
          </a:prstGeom>
          <a:solidFill>
            <a:srgbClr val="C7D2FE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74520" y="2331720"/>
            <a:ext cx="1371600" cy="1371600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65960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$300T+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Card Payments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~$50T annual volume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0" y="2148840"/>
            <a:ext cx="411480" cy="0"/>
          </a:xfrm>
          <a:prstGeom prst="line">
            <a:avLst/>
          </a:prstGeom>
          <a:noFill/>
          <a:ln w="1016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Online/API Payments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~$15T annual volume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0" y="3520440"/>
            <a:ext cx="411480" cy="0"/>
          </a:xfrm>
          <a:prstGeom prst="line">
            <a:avLst/>
          </a:prstGeom>
          <a:noFill/>
          <a:ln w="1016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2025A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$1.9T TPV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0" y="4041648"/>
            <a:ext cx="411480" cy="0"/>
          </a:xfrm>
          <a:prstGeom prst="line">
            <a:avLst/>
          </a:prstGeom>
          <a:noFill/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1965960" cy="1828800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56632" y="1124712"/>
            <a:ext cx="384048" cy="38404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442" y="1201522"/>
            <a:ext cx="230429" cy="23042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01768" y="16184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01768" y="192024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&amp; Latin America: underpenetrated markets with fast fintech adoption and limited incumbent resistance.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995160" y="960120"/>
            <a:ext cx="1965960" cy="1828800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159752" y="112471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562" y="1201522"/>
            <a:ext cx="230429" cy="23042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04888" y="16184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Commerce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104888" y="192024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transactions represent the next generation of TPV. Stripe's programmable APIs are the natural infrastructure layer.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892040" y="2971800"/>
            <a:ext cx="1965960" cy="1828800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056632" y="313639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3442" y="3213202"/>
            <a:ext cx="230429" cy="23042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01768" y="3630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Product Attach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001768" y="39319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Billing, Radar: higher-margin products layered on core infrastructure. Each new attach deepens switching costs.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995160" y="2971800"/>
            <a:ext cx="1965960" cy="1828800"/>
          </a:xfrm>
          <a:prstGeom prst="rect">
            <a:avLst/>
          </a:prstGeom>
          <a:solidFill>
            <a:srgbClr val="EBF2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7159752" y="313639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562" y="3213202"/>
            <a:ext cx="230429" cy="23042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04888" y="3630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Platform Moat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104888" y="39319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developers on Stripe. The most adopted payments API globally creates compounding network effect.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 &amp; Revenue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Transaction-driven: Revenue = TPV × Net Take Rate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34738263"/>
              </p:ext>
            </p:extLst>
          </p:nvPr>
        </p:nvGraphicFramePr>
        <p:xfrm>
          <a:off x="365760" y="960120"/>
          <a:ext cx="47548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49240" y="960120"/>
            <a:ext cx="33832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58968" y="996696"/>
            <a:ext cx="3163824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40680" y="1293594"/>
            <a:ext cx="320040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2025A TPV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40680" y="1445118"/>
            <a:ext cx="32004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$7.6T by 2034E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49240" y="1636776"/>
            <a:ext cx="33832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58968" y="1662014"/>
            <a:ext cx="3163824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440680" y="1978762"/>
            <a:ext cx="320040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Take 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40680" y="2121774"/>
            <a:ext cx="32004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interchange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349240" y="2313432"/>
            <a:ext cx="33832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50655" y="2340864"/>
            <a:ext cx="3163824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440680" y="2655418"/>
            <a:ext cx="320040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40680" y="2798430"/>
            <a:ext cx="32004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Software-driven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349240" y="2990088"/>
            <a:ext cx="33832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58968" y="3017520"/>
            <a:ext cx="3163824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30%→35%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440680" y="3332074"/>
            <a:ext cx="320040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3475086"/>
            <a:ext cx="32004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2025A → 2031E+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349240" y="3694176"/>
            <a:ext cx="338328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58968" y="3694542"/>
            <a:ext cx="3163824" cy="32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440680" y="4008730"/>
            <a:ext cx="3200400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Revenue CAGR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40680" y="4151742"/>
            <a:ext cx="32004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$7.6B → $30.3B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65760" y="4370832"/>
            <a:ext cx="836676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" y="439826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  TPV ($T) × Net Take Rate (0.40%) = Revenue ($B)  ·  Take rate sustained by infrastructure moat, enterprise mix &amp; software attach (Tax, Billing, Radar)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Company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peers across 3 cohorts  ·  Applied multiple: 18x  ·  Source: Yahoo Finance, April 2026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366760" cy="388619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EV/Rev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38">
                <a:tc gridSpan="7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1 — PAYMENTS INFRASTRUCTURE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Adyen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direct peer — 50%+ 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cross-border niche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(SQ)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play; Rule of 40 in recovery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938">
                <a:tc gridSpan="7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2 — PAYMENT NETWORKS (MOAT BENCHMARK)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ceiling — moat benchmark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Duopoly premium; best-in-class economics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38">
                <a:tc gridSpan="7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3 — E-COMMERCE PLATFORMS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API-ecosystem comp; 30%+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$40.9B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Legacy; structural checkout share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Average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(Subject)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3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 applied  →  $175.1B implied 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4" name="Text 3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explicit FCF model  ·  WACC 11.66%  ·  Terminal growth 3.0%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966448455"/>
              </p:ext>
            </p:extLst>
          </p:nvPr>
        </p:nvGraphicFramePr>
        <p:xfrm>
          <a:off x="365760" y="9144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977640"/>
            <a:ext cx="5120640" cy="822960"/>
          </a:xfrm>
          <a:prstGeom prst="rect">
            <a:avLst/>
          </a:prstGeom>
          <a:solidFill>
            <a:srgbClr val="EBF2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11.66%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RFR: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4.44% (US 10Y)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Beta: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1.30×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ERP: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5.55% (Damodaran)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4361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Terminal FCF: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$7.44B  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TV as % of EV: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(within normal range)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0" y="896112"/>
            <a:ext cx="3017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79008" y="913850"/>
            <a:ext cx="2798064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$24.1B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760720" y="1288390"/>
            <a:ext cx="2834640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PV of FCFs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1691640"/>
            <a:ext cx="3017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79008" y="1713037"/>
            <a:ext cx="2798064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$86.0B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60720" y="2083918"/>
            <a:ext cx="2834640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Value (Gordon GGM)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487168"/>
            <a:ext cx="3017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79008" y="2517708"/>
            <a:ext cx="2798064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$31.9B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760720" y="2879446"/>
            <a:ext cx="2834640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Terminal 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282696"/>
            <a:ext cx="3017520" cy="713232"/>
          </a:xfrm>
          <a:prstGeom prst="rect">
            <a:avLst/>
          </a:prstGeom>
          <a:solidFill>
            <a:srgbClr val="EBF2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60720" y="3280867"/>
            <a:ext cx="2798064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$56.0B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760720" y="3674974"/>
            <a:ext cx="2834640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Enterprise Value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0" y="4078224"/>
            <a:ext cx="301752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60720" y="4108764"/>
            <a:ext cx="2798064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5760720" y="4470502"/>
            <a:ext cx="2834640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 Blended Valuation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4846320"/>
            <a:ext cx="301752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69280" y="456322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= valuation floor. Low weight is analytically justified: comps answer what the market pays today for 26%+ growth infrastructure — a more relevant question pre-IPO.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Three-method blend  ·  Comps 60% / DCF 10% / IPO Range 30%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16379577"/>
              </p:ext>
            </p:extLst>
          </p:nvPr>
        </p:nvGraphicFramePr>
        <p:xfrm>
          <a:off x="365760" y="896112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EV/Revenue Multiple × 2026E Revenue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4389120" cy="106680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\ Mult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$126B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3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$154B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0" y="58226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→ Equity Bridge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816471"/>
            <a:ext cx="3657600" cy="438912"/>
          </a:xfrm>
          <a:prstGeom prst="rect">
            <a:avLst/>
          </a:prstGeom>
          <a:solidFill>
            <a:srgbClr val="EB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120640" y="8420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(Blended)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498080" y="86669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$174.9B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0" y="1392548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120640" y="1424549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Cash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498080" y="1404931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+$12.0B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0" y="1971859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120640" y="19933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(−) Debt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498080" y="199339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−$7.0B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0" y="2538787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20640" y="256580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(−) Preferred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7498080" y="256032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29200" y="3104388"/>
            <a:ext cx="3657600" cy="438912"/>
          </a:xfrm>
          <a:prstGeom prst="rect">
            <a:avLst/>
          </a:prstGeom>
          <a:solidFill>
            <a:srgbClr val="EB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120640" y="3110081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Equity Value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498080" y="311810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$178.7B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029200" y="3630168"/>
            <a:ext cx="3657600" cy="438912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12064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Shares (2.30B)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7498080" y="362102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$78.20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0" y="4092245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Scenario Analysis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0" y="4339133"/>
            <a:ext cx="3657600" cy="164592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120640" y="4348277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 ·  18% growth / 14x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498080" y="4348277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$125.6B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029200" y="4515002"/>
            <a:ext cx="3657600" cy="16459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5120640" y="4534815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28% growth / 18x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498080" y="4540300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$175.1B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029200" y="4684967"/>
            <a:ext cx="3657600" cy="164592"/>
          </a:xfrm>
          <a:prstGeom prst="rect">
            <a:avLst/>
          </a:prstGeom>
          <a:solidFill>
            <a:srgbClr val="EBF2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120640" y="4697881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 ·  36% growth / 20x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498080" y="4714035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$206.7B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 &amp; Key Risks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411480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  —  Why Stripe Could Exceed $210B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38912" y="138074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" y="1450238"/>
            <a:ext cx="208483" cy="208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16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Commerce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" y="1554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payments layer for autonomous AI transactions. Significant incremental TPV not modelled in base case — a free option.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8912" y="211226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" y="2181758"/>
            <a:ext cx="208483" cy="2084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048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Monetisation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914400" y="2286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Tax, Billing &amp; Radar growing faster than core payments, lifting blended take rate and gross margins structurally.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38912" y="2843784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" y="2913278"/>
            <a:ext cx="208483" cy="2084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Acceleration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914400" y="30175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segment commands higher take rates than SMB. Growing rapidly with deepening API integrations.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38912" y="35753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" y="3644798"/>
            <a:ext cx="208483" cy="2084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511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91440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and Latin America: underpenetrated, fast-growing, limited incumbent resistance.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38912" y="430682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6" y="4376318"/>
            <a:ext cx="208483" cy="20848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4242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914400" y="4480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path to 35%+ as fixed-cost leverage on infrastructure scales. Software mix accelerates.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663440" y="841248"/>
            <a:ext cx="4069080" cy="32918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754880" y="8595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 —  Bear Case Triggers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736592" y="1380744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6086" y="1450238"/>
            <a:ext cx="208483" cy="208483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193792" y="1298448"/>
            <a:ext cx="5303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5193792" y="12984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1" name="Text 23"/>
          <p:cNvSpPr/>
          <p:nvPr/>
        </p:nvSpPr>
        <p:spPr>
          <a:xfrm>
            <a:off x="5779008" y="13167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Compression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5212080" y="15544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±5bps = ~±$11B EV impact. Adyen, PayPal &amp; embedded finance players exert structural pressure.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736592" y="211226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181758"/>
            <a:ext cx="208483" cy="208483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5193792" y="2029968"/>
            <a:ext cx="5303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5193792" y="202996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50" dirty="0"/>
          </a:p>
        </p:txBody>
      </p:sp>
      <p:sp>
        <p:nvSpPr>
          <p:cNvPr id="37" name="Text 28"/>
          <p:cNvSpPr/>
          <p:nvPr/>
        </p:nvSpPr>
        <p:spPr>
          <a:xfrm>
            <a:off x="5779008" y="2048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Sensitivity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5212080" y="22860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spending slowdown pushes TPV growth below 18–28% forecast range.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4736592" y="2843784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6086" y="2913278"/>
            <a:ext cx="208483" cy="208483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5193792" y="2761488"/>
            <a:ext cx="5303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/>
          <p:nvPr/>
        </p:nvSpPr>
        <p:spPr>
          <a:xfrm>
            <a:off x="5193792" y="27614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50" dirty="0"/>
          </a:p>
        </p:txBody>
      </p:sp>
      <p:sp>
        <p:nvSpPr>
          <p:cNvPr id="43" name="Text 33"/>
          <p:cNvSpPr/>
          <p:nvPr/>
        </p:nvSpPr>
        <p:spPr>
          <a:xfrm>
            <a:off x="5779008" y="27797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Tech Competition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5212080" y="30175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 / Google Pay building direct merchant relationships could bypass Stripe's layer over time.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4736592" y="3575304"/>
            <a:ext cx="347472" cy="34747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6086" y="3644798"/>
            <a:ext cx="208483" cy="208483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5193792" y="3493008"/>
            <a:ext cx="530352" cy="2011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/>
          <p:nvPr/>
        </p:nvSpPr>
        <p:spPr>
          <a:xfrm>
            <a:off x="5193792" y="34930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MED-LOW</a:t>
            </a:r>
            <a:endParaRPr lang="en-US" sz="650" dirty="0"/>
          </a:p>
        </p:txBody>
      </p:sp>
      <p:sp>
        <p:nvSpPr>
          <p:cNvPr id="49" name="Text 38"/>
          <p:cNvSpPr/>
          <p:nvPr/>
        </p:nvSpPr>
        <p:spPr>
          <a:xfrm>
            <a:off x="5779008" y="35112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950" dirty="0"/>
          </a:p>
        </p:txBody>
      </p:sp>
      <p:sp>
        <p:nvSpPr>
          <p:cNvPr id="50" name="Text 39"/>
          <p:cNvSpPr/>
          <p:nvPr/>
        </p:nvSpPr>
        <p:spPr>
          <a:xfrm>
            <a:off x="5212080" y="37490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regulation, open banking mandates, AML/KYC complexity in global expansion.</a:t>
            </a:r>
            <a:endParaRPr lang="en-US" sz="850" dirty="0"/>
          </a:p>
        </p:txBody>
      </p:sp>
      <p:sp>
        <p:nvSpPr>
          <p:cNvPr id="51" name="Shape 40"/>
          <p:cNvSpPr/>
          <p:nvPr/>
        </p:nvSpPr>
        <p:spPr>
          <a:xfrm>
            <a:off x="4736592" y="4306824"/>
            <a:ext cx="347472" cy="34747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6086" y="4376318"/>
            <a:ext cx="208483" cy="208483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5193792" y="4224528"/>
            <a:ext cx="5303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2"/>
          <p:cNvSpPr/>
          <p:nvPr/>
        </p:nvSpPr>
        <p:spPr>
          <a:xfrm>
            <a:off x="5193792" y="4224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650" dirty="0"/>
          </a:p>
        </p:txBody>
      </p:sp>
      <p:sp>
        <p:nvSpPr>
          <p:cNvPr id="55" name="Text 43"/>
          <p:cNvSpPr/>
          <p:nvPr/>
        </p:nvSpPr>
        <p:spPr>
          <a:xfrm>
            <a:off x="5779008" y="42428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Timing Risk</a:t>
            </a:r>
            <a:endParaRPr lang="en-US" sz="950" dirty="0"/>
          </a:p>
        </p:txBody>
      </p:sp>
      <p:sp>
        <p:nvSpPr>
          <p:cNvPr id="56" name="Text 44"/>
          <p:cNvSpPr/>
          <p:nvPr/>
        </p:nvSpPr>
        <p:spPr>
          <a:xfrm>
            <a:off x="5212080" y="448056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 market in 2026–2027 could result in IPO pricing below $159B private valuation.</a:t>
            </a:r>
            <a:endParaRPr lang="en-US" sz="850" dirty="0"/>
          </a:p>
        </p:txBody>
      </p:sp>
      <p:sp>
        <p:nvSpPr>
          <p:cNvPr id="57" name="Shape 45"/>
          <p:cNvSpPr/>
          <p:nvPr/>
        </p:nvSpPr>
        <p:spPr>
          <a:xfrm>
            <a:off x="4544568" y="841248"/>
            <a:ext cx="0" cy="398678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6"/>
          <p:cNvSpPr/>
          <p:nvPr/>
        </p:nvSpPr>
        <p:spPr>
          <a:xfrm>
            <a:off x="36576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·  Strategic Valuation &amp; IPO Readiness  ·  Edric Lim  ·  April 2026  ·  CONFIDENTIAL</a:t>
            </a:r>
            <a:endParaRPr lang="en-US" sz="750" dirty="0"/>
          </a:p>
        </p:txBody>
      </p:sp>
      <p:sp>
        <p:nvSpPr>
          <p:cNvPr id="59" name="Text 47"/>
          <p:cNvSpPr/>
          <p:nvPr/>
        </p:nvSpPr>
        <p:spPr>
          <a:xfrm>
            <a:off x="7406640" y="4892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750" dirty="0"/>
          </a:p>
        </p:txBody>
      </p:sp>
      <p:sp>
        <p:nvSpPr>
          <p:cNvPr id="60" name="Shape 48"/>
          <p:cNvSpPr/>
          <p:nvPr/>
        </p:nvSpPr>
        <p:spPr>
          <a:xfrm>
            <a:off x="365760" y="4873752"/>
            <a:ext cx="8412480" cy="0"/>
          </a:xfrm>
          <a:prstGeom prst="line">
            <a:avLst/>
          </a:prstGeom>
          <a:noFill/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0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22592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22592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22592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22592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22592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61504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461504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61504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61504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61504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00416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00416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00416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00416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00416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39328" y="22860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39328" y="667512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39328" y="1106424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39328" y="1545336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39328" y="1984248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256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217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INC.  —  BUY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5029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3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$174.9B  Target  ·  +10.0% Upside  ·  $78.20 Implied Share Price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02920" y="1792224"/>
            <a:ext cx="256032" cy="256032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86968" y="1755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EV $174.9B: Comps 60% ($175.1B) · DCF 10% ($56.0B) · IPO Range 30% ($213.9B at 22× 2026E Rev)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2267712"/>
            <a:ext cx="256032" cy="256032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86968" y="22311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not processor. Structural switching costs compound as API depth grows — justifies 18x vs 7.34x peer avg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2743200"/>
            <a:ext cx="256032" cy="256032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86968" y="27066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 score 58% — Elite tier, ahead of Shopify (47.3%) and near Adyen (67.3%)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218688"/>
            <a:ext cx="256032" cy="256032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86968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expansion 30%→35% over 2025–2031; FCF grows from $1.57B to $7.44B; 10Y CAGR ~15%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3694176"/>
            <a:ext cx="256032" cy="256032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86968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($125.6B) requires simultaneous take-rate compression AND macro deterioration — a low-probability joint scenario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169664"/>
            <a:ext cx="256032" cy="256032"/>
          </a:xfrm>
          <a:prstGeom prst="ellipse">
            <a:avLst/>
          </a:prstGeom>
          <a:solidFill>
            <a:srgbClr val="635BFF"/>
          </a:solidFill>
          <a:ln w="12700">
            <a:solidFill>
              <a:srgbClr val="63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86968" y="41330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window: Late 2026 – H1 2027. At $159B current private valuation, risk/reward is asymmetrically positive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Edric Lim  ·  April 2026  ·  CONFIDENTIAL — FOR EDUCATIONAL PURPOSES ONLY  ·  All figures in $B unless noted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1505</Words>
  <Application>Microsoft Macintosh PowerPoint</Application>
  <PresentationFormat>On-screen Show (16:9)</PresentationFormat>
  <Paragraphs>305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Stripe Inc. — Strategic Valuation &amp; IPO Readiness</dc:title>
  <dc:subject>PptxGenJS Presentation</dc:subject>
  <dc:creator>Edric Lim</dc:creator>
  <cp:lastModifiedBy>Edric Lim</cp:lastModifiedBy>
  <cp:revision>4</cp:revision>
  <dcterms:created xsi:type="dcterms:W3CDTF">2026-04-16T00:25:22Z</dcterms:created>
  <dcterms:modified xsi:type="dcterms:W3CDTF">2026-09-01T06:28:46Z</dcterms:modified>
</cp:coreProperties>
</file>